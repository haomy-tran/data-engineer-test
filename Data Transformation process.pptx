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B63B-8EDC-B45E-8696-FBCE6D826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2E75B-C81D-4F48-22D0-84C677DCD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D1C70-31B4-2C41-CA90-35D426A5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3AC06-C7EE-666D-EEA5-3AEDBC69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BB844-F8A5-DB2A-256C-3A93FA3B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6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AD84-87AC-D499-1DDC-3B8E2F21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DA62-AAD4-4755-2357-BEE51DDE1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420A-EA5D-4DCC-D12B-276B0469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2DF81-D314-3ADB-B8FF-71BBE0CE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3BCE2-3E4F-BDB6-CB73-EC20CF2D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21A3-F655-8879-B388-F2E2568B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A1AAE-D200-52C4-CDDA-44B23743B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286D-280F-23C2-68E3-7EC107FC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A0F94-88E6-6795-73BF-1847B0FF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32C5A-BAAE-47FE-BF03-64C5AE66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22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D5D7-A187-9B30-65E7-2D420377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9DB0-BA5C-80E1-56FC-9CED88C5D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D3C99-72B7-3D3A-6433-ED33FA8CE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96C4C-99EC-8584-7ECB-B94CDAE8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A164A-BC7C-8C4A-2616-F81BF55D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5596B-D1B6-D190-2E6D-5F2B1E7E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1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ABE2-5969-4A61-48DA-B141D9C3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FFB1F-F525-C443-E9E5-6929395A5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4644C-6B90-44FC-B616-E1969F7A8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3D05C-8793-DA2C-68E9-5B6879701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BA9204-769F-CBF8-9049-24864D4E8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76A0F-DBA4-3E2B-D3B7-3AD99EBD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E3784-0D62-85BB-CA9C-3DE1A9DC7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5CFB9-E680-CEA3-E87F-26408E7E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3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B8FFF-144A-D817-B435-7EA0CD87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F4E20-EB65-B28C-AF44-B82964D4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32438-05E9-1D1C-C6C1-105D5013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3CEBE-C998-F3FC-0BCA-19682231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5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7184E-6CC3-D5F3-543B-253766D2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6BD63-7BAF-ADAF-E25A-B4E01AAF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19D02-A797-F680-7B25-B42F9766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5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5606-B6DA-C504-6468-70E0F936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B237-6B91-848C-A22C-094A0EA1F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DCE81-0B81-DA93-77B3-D3EFCD324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B2BBE-9324-3029-98CC-623751BB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F9D3B-FA0E-EAC5-A27F-F41795CF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7B228-F6EA-C715-5D9C-96F9E06F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1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2B9B-06AF-DA7E-462B-7AA1603D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CFA00-CCF3-F881-024F-74523522D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6308E-FD99-4E3F-58FB-1622E3586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C06CD-96F0-3B2E-3683-E9558677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C21CD-EF64-BFCA-DC22-A044FA18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D9F9D-199A-A6BD-60FC-1D1D9BC6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9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7933-90EC-34C5-ADA7-196AD037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D5E84-85C2-2938-426F-61EEA9D17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C4713-1DF0-C064-22EA-EE861DD2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EFE1E-EF22-87A2-44C1-0A186DCD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59B2C-018B-A473-F4F3-6F0BA71C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0AE99-790E-F546-C521-2E0003D4F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A4C72-12A5-108A-06C7-B88722C28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5E289-EFCC-1097-88A9-11C00EC5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D7CB0-CDBC-1F6E-8C9C-0FD297DA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A57E-4508-EB35-13FD-1CA039D6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0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2AE36-1C46-F6E4-8988-D166998D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16736-F3F0-4DBD-8BCA-7C8B44744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E095A-1232-6C85-517C-538DA141A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26237-6B37-4C0E-86E0-04100163C4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DB062-90D5-5FAF-822C-9B4953CAA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22252-F15F-49DD-9858-92E1BCCE4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B753-9E30-40B9-B088-A78E5CB7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3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8DA3DE4-5516-5CDD-AEE3-732FE8D16EB4}"/>
              </a:ext>
            </a:extLst>
          </p:cNvPr>
          <p:cNvCxnSpPr>
            <a:cxnSpLocks/>
          </p:cNvCxnSpPr>
          <p:nvPr/>
        </p:nvCxnSpPr>
        <p:spPr>
          <a:xfrm>
            <a:off x="2162314" y="2781006"/>
            <a:ext cx="0" cy="42868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E41868E-8BB9-4355-6D53-22BD312E3E24}"/>
              </a:ext>
            </a:extLst>
          </p:cNvPr>
          <p:cNvSpPr/>
          <p:nvPr/>
        </p:nvSpPr>
        <p:spPr>
          <a:xfrm>
            <a:off x="10929035" y="2663110"/>
            <a:ext cx="1239518" cy="10843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Cleaned_data</a:t>
            </a:r>
            <a:r>
              <a:rPr lang="en-US" sz="1400" b="1" dirty="0">
                <a:solidFill>
                  <a:schemeClr val="tx1"/>
                </a:solidFill>
              </a:rPr>
              <a:t> (Google sheet file)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96C31B-8A76-6550-FFAE-85CDE969D743}"/>
              </a:ext>
            </a:extLst>
          </p:cNvPr>
          <p:cNvSpPr/>
          <p:nvPr/>
        </p:nvSpPr>
        <p:spPr>
          <a:xfrm>
            <a:off x="748596" y="1747576"/>
            <a:ext cx="1224170" cy="609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Removing duplicates + Lowering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0AE08-5686-D028-78DC-F61CE3679EF7}"/>
              </a:ext>
            </a:extLst>
          </p:cNvPr>
          <p:cNvSpPr/>
          <p:nvPr/>
        </p:nvSpPr>
        <p:spPr>
          <a:xfrm>
            <a:off x="1785265" y="2443220"/>
            <a:ext cx="830329" cy="395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Split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28767-6D87-555E-345D-239BA4A05498}"/>
              </a:ext>
            </a:extLst>
          </p:cNvPr>
          <p:cNvSpPr/>
          <p:nvPr/>
        </p:nvSpPr>
        <p:spPr>
          <a:xfrm>
            <a:off x="3944820" y="519946"/>
            <a:ext cx="1219200" cy="4561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Remove 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9B007-0076-9544-D099-D9786BE1BE35}"/>
              </a:ext>
            </a:extLst>
          </p:cNvPr>
          <p:cNvSpPr/>
          <p:nvPr/>
        </p:nvSpPr>
        <p:spPr>
          <a:xfrm>
            <a:off x="4221860" y="3379035"/>
            <a:ext cx="890865" cy="467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Emails with “ at “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35BDC-BB6A-84AF-88FB-C4D7A73615FD}"/>
              </a:ext>
            </a:extLst>
          </p:cNvPr>
          <p:cNvSpPr/>
          <p:nvPr/>
        </p:nvSpPr>
        <p:spPr>
          <a:xfrm>
            <a:off x="5351095" y="3983253"/>
            <a:ext cx="1156105" cy="11510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Emails with popular domains (</a:t>
            </a:r>
            <a:r>
              <a:rPr lang="en-US" sz="1100" dirty="0" err="1">
                <a:solidFill>
                  <a:schemeClr val="tx1"/>
                </a:solidFill>
              </a:rPr>
              <a:t>gmail</a:t>
            </a:r>
            <a:r>
              <a:rPr lang="en-US" sz="1100" dirty="0">
                <a:solidFill>
                  <a:schemeClr val="tx1"/>
                </a:solidFill>
              </a:rPr>
              <a:t>, outlook, </a:t>
            </a:r>
            <a:r>
              <a:rPr lang="en-US" sz="1100" dirty="0" err="1">
                <a:solidFill>
                  <a:schemeClr val="tx1"/>
                </a:solidFill>
              </a:rPr>
              <a:t>hotmail</a:t>
            </a:r>
            <a:r>
              <a:rPr lang="en-US" sz="1100" dirty="0">
                <a:solidFill>
                  <a:schemeClr val="tx1"/>
                </a:solidFill>
              </a:rPr>
              <a:t>, etc.)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5FBD2-97E1-882E-FD9A-2AED1BAEEC37}"/>
              </a:ext>
            </a:extLst>
          </p:cNvPr>
          <p:cNvSpPr/>
          <p:nvPr/>
        </p:nvSpPr>
        <p:spPr>
          <a:xfrm>
            <a:off x="5837761" y="510150"/>
            <a:ext cx="1299538" cy="660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User names (before @)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B3B73D-81BB-4D59-4A8A-A93AB497397C}"/>
              </a:ext>
            </a:extLst>
          </p:cNvPr>
          <p:cNvSpPr/>
          <p:nvPr/>
        </p:nvSpPr>
        <p:spPr>
          <a:xfrm>
            <a:off x="5855087" y="1550975"/>
            <a:ext cx="1299538" cy="533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Domain names (after @)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A990A2-0438-CC8C-FA2E-074DDEB951FB}"/>
              </a:ext>
            </a:extLst>
          </p:cNvPr>
          <p:cNvCxnSpPr/>
          <p:nvPr/>
        </p:nvCxnSpPr>
        <p:spPr>
          <a:xfrm>
            <a:off x="1336039" y="2430390"/>
            <a:ext cx="0" cy="77978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FE71B6-308D-3F9A-01D6-48D83ACCA3D0}"/>
              </a:ext>
            </a:extLst>
          </p:cNvPr>
          <p:cNvCxnSpPr>
            <a:cxnSpLocks/>
          </p:cNvCxnSpPr>
          <p:nvPr/>
        </p:nvCxnSpPr>
        <p:spPr>
          <a:xfrm>
            <a:off x="1741422" y="3210170"/>
            <a:ext cx="0" cy="50777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CCFB6F1-96FE-8855-842B-CACA859221F3}"/>
              </a:ext>
            </a:extLst>
          </p:cNvPr>
          <p:cNvSpPr/>
          <p:nvPr/>
        </p:nvSpPr>
        <p:spPr>
          <a:xfrm>
            <a:off x="1055891" y="3747434"/>
            <a:ext cx="1381759" cy="375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Format “Phone”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9EF3D1-3682-2D1B-19FA-7287A7351A4C}"/>
              </a:ext>
            </a:extLst>
          </p:cNvPr>
          <p:cNvCxnSpPr>
            <a:cxnSpLocks/>
          </p:cNvCxnSpPr>
          <p:nvPr/>
        </p:nvCxnSpPr>
        <p:spPr>
          <a:xfrm>
            <a:off x="937466" y="3192699"/>
            <a:ext cx="1540379" cy="16495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9223024-AA0B-7F68-083D-7F858FFB04B6}"/>
              </a:ext>
            </a:extLst>
          </p:cNvPr>
          <p:cNvSpPr/>
          <p:nvPr/>
        </p:nvSpPr>
        <p:spPr>
          <a:xfrm>
            <a:off x="3100110" y="1068718"/>
            <a:ext cx="832493" cy="585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Email with @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2B75EA-D0EB-57AC-39CD-931FE391ABC4}"/>
              </a:ext>
            </a:extLst>
          </p:cNvPr>
          <p:cNvSpPr/>
          <p:nvPr/>
        </p:nvSpPr>
        <p:spPr>
          <a:xfrm>
            <a:off x="3100110" y="3973032"/>
            <a:ext cx="817404" cy="585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Email without  @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1F8097-383F-C8BC-4B28-D29F8BB8B570}"/>
              </a:ext>
            </a:extLst>
          </p:cNvPr>
          <p:cNvSpPr/>
          <p:nvPr/>
        </p:nvSpPr>
        <p:spPr>
          <a:xfrm>
            <a:off x="4246287" y="4787404"/>
            <a:ext cx="866916" cy="467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Remaining Emails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48B973-68D8-371A-F329-2A3CB7702AD2}"/>
              </a:ext>
            </a:extLst>
          </p:cNvPr>
          <p:cNvSpPr/>
          <p:nvPr/>
        </p:nvSpPr>
        <p:spPr>
          <a:xfrm>
            <a:off x="7394426" y="90233"/>
            <a:ext cx="1163828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Formating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(remove invalid symbols)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58CC1A-F5DD-DB93-864B-038B286192D5}"/>
              </a:ext>
            </a:extLst>
          </p:cNvPr>
          <p:cNvSpPr/>
          <p:nvPr/>
        </p:nvSpPr>
        <p:spPr>
          <a:xfrm>
            <a:off x="7340832" y="1823592"/>
            <a:ext cx="1271016" cy="1242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Formating</a:t>
            </a:r>
            <a:endParaRPr lang="en-US" sz="1050" dirty="0">
              <a:solidFill>
                <a:schemeClr val="tx1"/>
              </a:solidFill>
            </a:endParaRP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(remove invalid symbols, replace commas with dots, adjust invalid domain names, etc.) (*)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3AC335-C409-DBD2-8A03-50B90CD24815}"/>
              </a:ext>
            </a:extLst>
          </p:cNvPr>
          <p:cNvSpPr/>
          <p:nvPr/>
        </p:nvSpPr>
        <p:spPr>
          <a:xfrm>
            <a:off x="8650082" y="909825"/>
            <a:ext cx="1194547" cy="6579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</a:rPr>
              <a:t>Cleaned_with_a</a:t>
            </a:r>
            <a:endParaRPr lang="en-US" sz="1100" b="1" dirty="0">
              <a:solidFill>
                <a:schemeClr val="tx1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E80F179-515F-C926-881B-0A3198558C07}"/>
              </a:ext>
            </a:extLst>
          </p:cNvPr>
          <p:cNvCxnSpPr>
            <a:cxnSpLocks/>
            <a:stCxn id="8" idx="0"/>
            <a:endCxn id="29" idx="2"/>
          </p:cNvCxnSpPr>
          <p:nvPr/>
        </p:nvCxnSpPr>
        <p:spPr>
          <a:xfrm flipH="1" flipV="1">
            <a:off x="3516357" y="1654440"/>
            <a:ext cx="1150936" cy="172459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CAD701DA-062A-B871-0C5A-68B5CDE31B88}"/>
              </a:ext>
            </a:extLst>
          </p:cNvPr>
          <p:cNvSpPr/>
          <p:nvPr/>
        </p:nvSpPr>
        <p:spPr>
          <a:xfrm>
            <a:off x="4490463" y="2435821"/>
            <a:ext cx="1183849" cy="623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Replace “ at “ with “@”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AF1B64D-4840-76A1-20D0-275FFD2FAE46}"/>
              </a:ext>
            </a:extLst>
          </p:cNvPr>
          <p:cNvSpPr/>
          <p:nvPr/>
        </p:nvSpPr>
        <p:spPr>
          <a:xfrm>
            <a:off x="8646873" y="6207021"/>
            <a:ext cx="1194547" cy="4778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Null values for Email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C6521FC-C294-43A8-6697-9CA49E80F95B}"/>
              </a:ext>
            </a:extLst>
          </p:cNvPr>
          <p:cNvSpPr/>
          <p:nvPr/>
        </p:nvSpPr>
        <p:spPr>
          <a:xfrm>
            <a:off x="5366452" y="5443229"/>
            <a:ext cx="1140747" cy="45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Others emails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(7 emails)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B5FB5AC-4DDC-4DB2-A593-E267AA14950D}"/>
              </a:ext>
            </a:extLst>
          </p:cNvPr>
          <p:cNvCxnSpPr>
            <a:cxnSpLocks/>
            <a:stCxn id="30" idx="3"/>
            <a:endCxn id="8" idx="1"/>
          </p:cNvCxnSpPr>
          <p:nvPr/>
        </p:nvCxnSpPr>
        <p:spPr>
          <a:xfrm flipV="1">
            <a:off x="3917514" y="3612715"/>
            <a:ext cx="304346" cy="6531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89F5C1C-9A98-3B13-9619-83659255BDA2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3917514" y="4265893"/>
            <a:ext cx="328773" cy="75519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D7DD915-B579-BFFA-1489-87253D4F3EF7}"/>
              </a:ext>
            </a:extLst>
          </p:cNvPr>
          <p:cNvCxnSpPr>
            <a:cxnSpLocks/>
            <a:stCxn id="140" idx="5"/>
            <a:endCxn id="30" idx="1"/>
          </p:cNvCxnSpPr>
          <p:nvPr/>
        </p:nvCxnSpPr>
        <p:spPr>
          <a:xfrm>
            <a:off x="2601923" y="3260588"/>
            <a:ext cx="498187" cy="10053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DA38994-02F3-4A11-6665-B4BF4031E797}"/>
              </a:ext>
            </a:extLst>
          </p:cNvPr>
          <p:cNvCxnSpPr>
            <a:cxnSpLocks/>
            <a:stCxn id="140" idx="7"/>
            <a:endCxn id="29" idx="1"/>
          </p:cNvCxnSpPr>
          <p:nvPr/>
        </p:nvCxnSpPr>
        <p:spPr>
          <a:xfrm flipV="1">
            <a:off x="2601923" y="1361579"/>
            <a:ext cx="498187" cy="179622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5AFACF3-A0C4-5531-1FBD-2F7C0ACBF298}"/>
              </a:ext>
            </a:extLst>
          </p:cNvPr>
          <p:cNvGrpSpPr/>
          <p:nvPr/>
        </p:nvGrpSpPr>
        <p:grpSpPr>
          <a:xfrm>
            <a:off x="5113203" y="4558754"/>
            <a:ext cx="253249" cy="1109595"/>
            <a:chOff x="5113203" y="4558754"/>
            <a:chExt cx="253249" cy="1109595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03E6BA22-84AC-79B4-953B-DFE1C9E4CFCA}"/>
                </a:ext>
              </a:extLst>
            </p:cNvPr>
            <p:cNvCxnSpPr>
              <a:cxnSpLocks/>
              <a:stCxn id="31" idx="3"/>
              <a:endCxn id="9" idx="1"/>
            </p:cNvCxnSpPr>
            <p:nvPr/>
          </p:nvCxnSpPr>
          <p:spPr>
            <a:xfrm flipV="1">
              <a:off x="5113203" y="4558754"/>
              <a:ext cx="237892" cy="46233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59BAC6A-791B-7D9B-B8C1-E2E0FDB3261D}"/>
                </a:ext>
              </a:extLst>
            </p:cNvPr>
            <p:cNvCxnSpPr>
              <a:cxnSpLocks/>
              <a:stCxn id="31" idx="3"/>
              <a:endCxn id="82" idx="1"/>
            </p:cNvCxnSpPr>
            <p:nvPr/>
          </p:nvCxnSpPr>
          <p:spPr>
            <a:xfrm>
              <a:off x="5113203" y="5021084"/>
              <a:ext cx="253249" cy="647265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23AFF42-1B48-A4A8-1415-B8185E82CE43}"/>
              </a:ext>
            </a:extLst>
          </p:cNvPr>
          <p:cNvGrpSpPr/>
          <p:nvPr/>
        </p:nvGrpSpPr>
        <p:grpSpPr>
          <a:xfrm>
            <a:off x="3932603" y="840350"/>
            <a:ext cx="1922484" cy="977349"/>
            <a:chOff x="3932603" y="840350"/>
            <a:chExt cx="1922484" cy="977349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3B499A1-4B62-EC15-43BF-61E184F30348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 flipV="1">
              <a:off x="3932603" y="1356245"/>
              <a:ext cx="1527705" cy="533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83B9617-363A-581D-AAD7-C0F0EE26001A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5460308" y="840350"/>
              <a:ext cx="377453" cy="515895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D6CDCC8-886E-9116-5984-35C9F4A112C8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5460308" y="1359529"/>
              <a:ext cx="394779" cy="45817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0E78EA6-01F9-254F-EBFB-FC1B4F511F44}"/>
              </a:ext>
            </a:extLst>
          </p:cNvPr>
          <p:cNvSpPr/>
          <p:nvPr/>
        </p:nvSpPr>
        <p:spPr>
          <a:xfrm>
            <a:off x="8646873" y="3004404"/>
            <a:ext cx="1194547" cy="6633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</a:rPr>
              <a:t>Cleaned_without_a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D744D5D-C9A6-57BE-30AD-631AF304C89F}"/>
              </a:ext>
            </a:extLst>
          </p:cNvPr>
          <p:cNvSpPr/>
          <p:nvPr/>
        </p:nvSpPr>
        <p:spPr>
          <a:xfrm>
            <a:off x="11625" y="2663110"/>
            <a:ext cx="925841" cy="10591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Customer_raw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C74D27D-F940-B177-34A9-5BEEA529ADA5}"/>
              </a:ext>
            </a:extLst>
          </p:cNvPr>
          <p:cNvSpPr/>
          <p:nvPr/>
        </p:nvSpPr>
        <p:spPr>
          <a:xfrm>
            <a:off x="2477845" y="3136510"/>
            <a:ext cx="145367" cy="14536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037C88D-74F3-FE3A-1E70-9E135911B3B7}"/>
              </a:ext>
            </a:extLst>
          </p:cNvPr>
          <p:cNvSpPr/>
          <p:nvPr/>
        </p:nvSpPr>
        <p:spPr>
          <a:xfrm>
            <a:off x="6978557" y="5847784"/>
            <a:ext cx="1271016" cy="3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Manually format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E263254-53BC-4A69-0984-93030B635D64}"/>
              </a:ext>
            </a:extLst>
          </p:cNvPr>
          <p:cNvCxnSpPr>
            <a:cxnSpLocks/>
          </p:cNvCxnSpPr>
          <p:nvPr/>
        </p:nvCxnSpPr>
        <p:spPr>
          <a:xfrm>
            <a:off x="7599780" y="5668349"/>
            <a:ext cx="0" cy="22512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E0FBEB3-32FA-5C24-601E-CB375A2C2184}"/>
              </a:ext>
            </a:extLst>
          </p:cNvPr>
          <p:cNvSpPr/>
          <p:nvPr/>
        </p:nvSpPr>
        <p:spPr>
          <a:xfrm>
            <a:off x="8003403" y="4322837"/>
            <a:ext cx="792294" cy="579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Formating</a:t>
            </a:r>
            <a:r>
              <a:rPr lang="en-US" sz="1100" dirty="0">
                <a:solidFill>
                  <a:schemeClr val="tx1"/>
                </a:solidFill>
              </a:rPr>
              <a:t> (add @, clean domain) (*)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D3FAF14-4B15-EBEE-DA38-DEA03B202496}"/>
              </a:ext>
            </a:extLst>
          </p:cNvPr>
          <p:cNvCxnSpPr>
            <a:cxnSpLocks/>
          </p:cNvCxnSpPr>
          <p:nvPr/>
        </p:nvCxnSpPr>
        <p:spPr>
          <a:xfrm>
            <a:off x="4532918" y="965200"/>
            <a:ext cx="0" cy="38930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1C73221-0017-913B-3D20-9C8CDA881F32}"/>
              </a:ext>
            </a:extLst>
          </p:cNvPr>
          <p:cNvSpPr/>
          <p:nvPr/>
        </p:nvSpPr>
        <p:spPr>
          <a:xfrm>
            <a:off x="4714223" y="1708225"/>
            <a:ext cx="818990" cy="4561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Vertically split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CE449A7D-879F-A38A-BF5A-4D74212AEDDC}"/>
              </a:ext>
            </a:extLst>
          </p:cNvPr>
          <p:cNvCxnSpPr>
            <a:cxnSpLocks/>
            <a:endCxn id="156" idx="0"/>
          </p:cNvCxnSpPr>
          <p:nvPr/>
        </p:nvCxnSpPr>
        <p:spPr>
          <a:xfrm>
            <a:off x="5123718" y="1359529"/>
            <a:ext cx="0" cy="34869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2A3F70D9-D923-237F-1809-27701D0016D1}"/>
              </a:ext>
            </a:extLst>
          </p:cNvPr>
          <p:cNvCxnSpPr>
            <a:cxnSpLocks/>
          </p:cNvCxnSpPr>
          <p:nvPr/>
        </p:nvCxnSpPr>
        <p:spPr>
          <a:xfrm flipH="1">
            <a:off x="4238649" y="2769947"/>
            <a:ext cx="36357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079D902-9507-4B48-C351-42B2EC434F4A}"/>
              </a:ext>
            </a:extLst>
          </p:cNvPr>
          <p:cNvSpPr/>
          <p:nvPr/>
        </p:nvSpPr>
        <p:spPr>
          <a:xfrm>
            <a:off x="6881451" y="3514218"/>
            <a:ext cx="1009636" cy="4074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User names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5C68D14-40C8-1E78-E850-39D112D79B51}"/>
              </a:ext>
            </a:extLst>
          </p:cNvPr>
          <p:cNvSpPr/>
          <p:nvPr/>
        </p:nvSpPr>
        <p:spPr>
          <a:xfrm>
            <a:off x="6862245" y="4237076"/>
            <a:ext cx="1009636" cy="4736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Domain names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9589B58-E0C1-6135-5CA8-46C77C8D3225}"/>
              </a:ext>
            </a:extLst>
          </p:cNvPr>
          <p:cNvGrpSpPr/>
          <p:nvPr/>
        </p:nvGrpSpPr>
        <p:grpSpPr>
          <a:xfrm>
            <a:off x="6507200" y="3717943"/>
            <a:ext cx="374251" cy="840811"/>
            <a:chOff x="6507200" y="3717943"/>
            <a:chExt cx="374251" cy="840811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FB34780C-BF5E-4F40-8519-7256D6F717B6}"/>
                </a:ext>
              </a:extLst>
            </p:cNvPr>
            <p:cNvCxnSpPr>
              <a:cxnSpLocks/>
              <a:stCxn id="9" idx="3"/>
              <a:endCxn id="164" idx="1"/>
            </p:cNvCxnSpPr>
            <p:nvPr/>
          </p:nvCxnSpPr>
          <p:spPr>
            <a:xfrm flipV="1">
              <a:off x="6507200" y="3717943"/>
              <a:ext cx="374251" cy="840811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6D625E59-1C14-6B02-8D0B-BC0A6D964644}"/>
                </a:ext>
              </a:extLst>
            </p:cNvPr>
            <p:cNvCxnSpPr>
              <a:cxnSpLocks/>
              <a:stCxn id="9" idx="3"/>
              <a:endCxn id="165" idx="1"/>
            </p:cNvCxnSpPr>
            <p:nvPr/>
          </p:nvCxnSpPr>
          <p:spPr>
            <a:xfrm flipV="1">
              <a:off x="6507200" y="4473905"/>
              <a:ext cx="355045" cy="8484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E749C11-3928-FBA4-8C75-95BF24EBA4CF}"/>
              </a:ext>
            </a:extLst>
          </p:cNvPr>
          <p:cNvCxnSpPr>
            <a:cxnSpLocks/>
          </p:cNvCxnSpPr>
          <p:nvPr/>
        </p:nvCxnSpPr>
        <p:spPr>
          <a:xfrm>
            <a:off x="8365277" y="3813474"/>
            <a:ext cx="0" cy="36551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DCBF99A-C4BE-73FB-7EFC-D2962891C9E4}"/>
              </a:ext>
            </a:extLst>
          </p:cNvPr>
          <p:cNvCxnSpPr>
            <a:cxnSpLocks/>
            <a:stCxn id="165" idx="3"/>
            <a:endCxn id="116" idx="1"/>
          </p:cNvCxnSpPr>
          <p:nvPr/>
        </p:nvCxnSpPr>
        <p:spPr>
          <a:xfrm flipV="1">
            <a:off x="7871881" y="3336058"/>
            <a:ext cx="774992" cy="113784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D27A485-3D61-BF4F-B27C-60D76B22877E}"/>
              </a:ext>
            </a:extLst>
          </p:cNvPr>
          <p:cNvCxnSpPr>
            <a:cxnSpLocks/>
            <a:stCxn id="164" idx="3"/>
            <a:endCxn id="116" idx="1"/>
          </p:cNvCxnSpPr>
          <p:nvPr/>
        </p:nvCxnSpPr>
        <p:spPr>
          <a:xfrm flipV="1">
            <a:off x="7891087" y="3336058"/>
            <a:ext cx="755786" cy="3818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556AC0-F2DE-2C9C-2B56-EB223BCD4890}"/>
              </a:ext>
            </a:extLst>
          </p:cNvPr>
          <p:cNvCxnSpPr>
            <a:cxnSpLocks/>
            <a:stCxn id="45" idx="3"/>
            <a:endCxn id="108" idx="0"/>
          </p:cNvCxnSpPr>
          <p:nvPr/>
        </p:nvCxnSpPr>
        <p:spPr>
          <a:xfrm>
            <a:off x="9844629" y="1238812"/>
            <a:ext cx="678633" cy="187640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CC1471E-F744-A3FB-B983-01E88E4C6F54}"/>
              </a:ext>
            </a:extLst>
          </p:cNvPr>
          <p:cNvCxnSpPr>
            <a:cxnSpLocks/>
            <a:stCxn id="213" idx="3"/>
            <a:endCxn id="108" idx="4"/>
          </p:cNvCxnSpPr>
          <p:nvPr/>
        </p:nvCxnSpPr>
        <p:spPr>
          <a:xfrm flipV="1">
            <a:off x="9830666" y="3260588"/>
            <a:ext cx="692596" cy="242048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BA8402A-D0CB-5B27-8754-94F739D2AA0B}"/>
              </a:ext>
            </a:extLst>
          </p:cNvPr>
          <p:cNvCxnSpPr>
            <a:cxnSpLocks/>
            <a:stCxn id="80" idx="3"/>
            <a:endCxn id="108" idx="4"/>
          </p:cNvCxnSpPr>
          <p:nvPr/>
        </p:nvCxnSpPr>
        <p:spPr>
          <a:xfrm flipV="1">
            <a:off x="9841420" y="3260588"/>
            <a:ext cx="681842" cy="3185372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A086004-1E64-EB23-FAED-75206AC24B81}"/>
              </a:ext>
            </a:extLst>
          </p:cNvPr>
          <p:cNvCxnSpPr>
            <a:cxnSpLocks/>
            <a:stCxn id="116" idx="3"/>
            <a:endCxn id="108" idx="2"/>
          </p:cNvCxnSpPr>
          <p:nvPr/>
        </p:nvCxnSpPr>
        <p:spPr>
          <a:xfrm flipV="1">
            <a:off x="9841420" y="3187905"/>
            <a:ext cx="609158" cy="148153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6B63612-42AE-2744-6110-E674468C872B}"/>
              </a:ext>
            </a:extLst>
          </p:cNvPr>
          <p:cNvCxnSpPr>
            <a:cxnSpLocks/>
          </p:cNvCxnSpPr>
          <p:nvPr/>
        </p:nvCxnSpPr>
        <p:spPr>
          <a:xfrm flipV="1">
            <a:off x="10490889" y="3192699"/>
            <a:ext cx="438146" cy="316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5209344B-4DD5-448D-A0D1-AA730101B5D6}"/>
              </a:ext>
            </a:extLst>
          </p:cNvPr>
          <p:cNvSpPr/>
          <p:nvPr/>
        </p:nvSpPr>
        <p:spPr>
          <a:xfrm>
            <a:off x="10450578" y="3115221"/>
            <a:ext cx="145367" cy="14536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AE837FEC-8DB1-3615-2FA3-1032AFD11946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7137299" y="840350"/>
            <a:ext cx="1512783" cy="39846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5E3208F-584A-0273-2964-EAC3F6C60972}"/>
              </a:ext>
            </a:extLst>
          </p:cNvPr>
          <p:cNvCxnSpPr>
            <a:cxnSpLocks/>
            <a:stCxn id="11" idx="3"/>
            <a:endCxn id="45" idx="1"/>
          </p:cNvCxnSpPr>
          <p:nvPr/>
        </p:nvCxnSpPr>
        <p:spPr>
          <a:xfrm flipV="1">
            <a:off x="7154625" y="1238812"/>
            <a:ext cx="1495457" cy="57888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196106B-36FB-F0DC-CD79-B7F0BDFB5C34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7976340" y="750633"/>
            <a:ext cx="0" cy="32886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2113E77-C1F3-9165-0258-576FB2E90649}"/>
              </a:ext>
            </a:extLst>
          </p:cNvPr>
          <p:cNvCxnSpPr>
            <a:cxnSpLocks/>
          </p:cNvCxnSpPr>
          <p:nvPr/>
        </p:nvCxnSpPr>
        <p:spPr>
          <a:xfrm>
            <a:off x="7976340" y="1550975"/>
            <a:ext cx="0" cy="24632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A723286-95FD-CE72-71A1-00D9CF36F148}"/>
              </a:ext>
            </a:extLst>
          </p:cNvPr>
          <p:cNvGrpSpPr/>
          <p:nvPr/>
        </p:nvGrpSpPr>
        <p:grpSpPr>
          <a:xfrm>
            <a:off x="2535755" y="3253998"/>
            <a:ext cx="6111118" cy="3195744"/>
            <a:chOff x="2535755" y="3371228"/>
            <a:chExt cx="6111118" cy="302081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DBAB5BF-C206-EF5A-567E-CD67EDB869D2}"/>
                </a:ext>
              </a:extLst>
            </p:cNvPr>
            <p:cNvCxnSpPr>
              <a:cxnSpLocks/>
            </p:cNvCxnSpPr>
            <p:nvPr/>
          </p:nvCxnSpPr>
          <p:spPr>
            <a:xfrm>
              <a:off x="2535755" y="3371228"/>
              <a:ext cx="708680" cy="302081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DE382AD8-28BF-9F19-3833-1F115DA10BA4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 flipV="1">
              <a:off x="3238944" y="6388463"/>
              <a:ext cx="5407929" cy="357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9" name="Rectangle 208">
            <a:extLst>
              <a:ext uri="{FF2B5EF4-FFF2-40B4-BE49-F238E27FC236}">
                <a16:creationId xmlns:a16="http://schemas.microsoft.com/office/drawing/2014/main" id="{AAC1C077-48FA-B366-6467-28AE065BDD08}"/>
              </a:ext>
            </a:extLst>
          </p:cNvPr>
          <p:cNvSpPr/>
          <p:nvPr/>
        </p:nvSpPr>
        <p:spPr>
          <a:xfrm>
            <a:off x="2527" y="5706998"/>
            <a:ext cx="4854212" cy="1151002"/>
          </a:xfrm>
          <a:prstGeom prst="rect">
            <a:avLst/>
          </a:prstGeom>
          <a:solidFill>
            <a:schemeClr val="bg1">
              <a:lumMod val="8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(*)  </a:t>
            </a:r>
            <a:r>
              <a:rPr lang="en-US" sz="1100" b="1" dirty="0">
                <a:solidFill>
                  <a:schemeClr val="tx1"/>
                </a:solidFill>
              </a:rPr>
              <a:t>I extracted the distinct domain names</a:t>
            </a:r>
            <a:r>
              <a:rPr lang="en-US" sz="1100" dirty="0">
                <a:solidFill>
                  <a:schemeClr val="tx1"/>
                </a:solidFill>
              </a:rPr>
              <a:t> from the dataset and </a:t>
            </a:r>
            <a:r>
              <a:rPr lang="en-US" sz="1100" b="1" dirty="0">
                <a:solidFill>
                  <a:schemeClr val="tx1"/>
                </a:solidFill>
              </a:rPr>
              <a:t>exported them to a Google Sheet</a:t>
            </a:r>
            <a:r>
              <a:rPr lang="en-US" sz="1100" dirty="0">
                <a:solidFill>
                  <a:schemeClr val="tx1"/>
                </a:solidFill>
              </a:rPr>
              <a:t> to manually create a dictionary of correct domain versions. After adding a </a:t>
            </a:r>
            <a:r>
              <a:rPr lang="en-US" sz="1100" b="1" dirty="0">
                <a:solidFill>
                  <a:schemeClr val="tx1"/>
                </a:solidFill>
              </a:rPr>
              <a:t>correction column</a:t>
            </a:r>
            <a:r>
              <a:rPr lang="en-US" sz="1100" dirty="0">
                <a:solidFill>
                  <a:schemeClr val="tx1"/>
                </a:solidFill>
              </a:rPr>
              <a:t> (standardized domain) in the sheet, I </a:t>
            </a:r>
            <a:r>
              <a:rPr lang="en-US" sz="1100" b="1" dirty="0">
                <a:solidFill>
                  <a:schemeClr val="tx1"/>
                </a:solidFill>
              </a:rPr>
              <a:t>re-imported the mapping table into </a:t>
            </a:r>
            <a:r>
              <a:rPr lang="en-US" sz="1100" b="1" dirty="0" err="1">
                <a:solidFill>
                  <a:schemeClr val="tx1"/>
                </a:solidFill>
              </a:rPr>
              <a:t>BigQuery</a:t>
            </a:r>
            <a:r>
              <a:rPr lang="en-US" sz="1100" dirty="0">
                <a:solidFill>
                  <a:schemeClr val="tx1"/>
                </a:solidFill>
              </a:rPr>
              <a:t>. Finally, I </a:t>
            </a:r>
            <a:r>
              <a:rPr lang="en-US" sz="1100" b="1" dirty="0">
                <a:solidFill>
                  <a:schemeClr val="tx1"/>
                </a:solidFill>
              </a:rPr>
              <a:t>leveraged a LEFT JOIN</a:t>
            </a:r>
            <a:r>
              <a:rPr lang="en-US" sz="1100" dirty="0">
                <a:solidFill>
                  <a:schemeClr val="tx1"/>
                </a:solidFill>
              </a:rPr>
              <a:t> to apply the standardized domain names back to the main data table, ensuring all original records received the clean, corrected domain.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8DECE8B-96F9-D539-888C-D6085AE31643}"/>
              </a:ext>
            </a:extLst>
          </p:cNvPr>
          <p:cNvSpPr/>
          <p:nvPr/>
        </p:nvSpPr>
        <p:spPr>
          <a:xfrm>
            <a:off x="-32443" y="-31819"/>
            <a:ext cx="3248091" cy="715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Process of data transformation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022D318-4AC5-EADB-1258-C1AACEEF65B4}"/>
              </a:ext>
            </a:extLst>
          </p:cNvPr>
          <p:cNvSpPr/>
          <p:nvPr/>
        </p:nvSpPr>
        <p:spPr>
          <a:xfrm>
            <a:off x="8636119" y="5391342"/>
            <a:ext cx="1194547" cy="5794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</a:rPr>
              <a:t>Cleaned_others</a:t>
            </a:r>
            <a:endParaRPr lang="en-US" sz="1100" b="1" dirty="0">
              <a:solidFill>
                <a:schemeClr val="tx1"/>
              </a:solidFill>
            </a:endParaRP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BB7B48D8-316A-2632-17FE-4863C7C2EF35}"/>
              </a:ext>
            </a:extLst>
          </p:cNvPr>
          <p:cNvCxnSpPr>
            <a:cxnSpLocks/>
            <a:endCxn id="213" idx="1"/>
          </p:cNvCxnSpPr>
          <p:nvPr/>
        </p:nvCxnSpPr>
        <p:spPr>
          <a:xfrm>
            <a:off x="6504856" y="5668349"/>
            <a:ext cx="2131263" cy="1272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5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213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Tran</dc:creator>
  <cp:lastModifiedBy>Hao Tran</cp:lastModifiedBy>
  <cp:revision>4</cp:revision>
  <dcterms:created xsi:type="dcterms:W3CDTF">2025-12-03T14:42:52Z</dcterms:created>
  <dcterms:modified xsi:type="dcterms:W3CDTF">2025-12-10T02:52:16Z</dcterms:modified>
</cp:coreProperties>
</file>